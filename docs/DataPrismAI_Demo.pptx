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DataPrism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4630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B1"/>
                </a:solidFill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0"/>
                </a:solidFill>
              </a:rPr>
              <a:t>Conversational Analytics for Enterprise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5566"/>
                </a:solidFill>
              </a:rPr>
              <a:t>GenBI  ·  Semantic SQL  ·  3-Mode AI  ·  Real-time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1463040" cy="31089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584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B1"/>
                </a:solidFill>
              </a:rPr>
              <a:t>Pattern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3566160"/>
            <a:ext cx="1463040" cy="31089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3584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B1"/>
                </a:solidFill>
              </a:rPr>
              <a:t>Hybrid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566160"/>
            <a:ext cx="1463040" cy="31089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3584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B1"/>
                </a:solidFill>
              </a:rPr>
              <a:t>LLM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9B1"/>
                </a:solidFill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April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291840" cy="658368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962656"/>
            <a:ext cx="1097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1272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03320"/>
            <a:ext cx="3291840" cy="658368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739896"/>
            <a:ext cx="1097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</a:rPr>
              <a:t>600K+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904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Deposit Txns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480560"/>
            <a:ext cx="3291840" cy="658368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517136"/>
            <a:ext cx="1097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6817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Countries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257800"/>
            <a:ext cx="3291840" cy="658368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294376"/>
            <a:ext cx="1097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B1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4589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Chat Modes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45720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457200" cy="40233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7101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710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Problem &amp;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7218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Why enterprise analytics is broken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4708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47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is DataPrismAI?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04825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Architecture &amp; value proposition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86584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2316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243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64-table banking data model, 3 countries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62656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99923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9992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 Chat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2004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Pattern → Hybrid →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38728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57530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5753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Semantic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7764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Metrics, dimensions, data dictionary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15137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1513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35254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Real queries, real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90872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727448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27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Personas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9286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Analyst · CFO · Fraud Analyst ·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66944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30352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303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Architecture Deep-dive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5046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FastAPI · StarRocks · Ollama · Next.js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843016"/>
            <a:ext cx="457200" cy="402336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87959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8795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60807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566"/>
                </a:solidFill>
              </a:rPr>
              <a:t>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3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Enterprise Analytics is Stuck in the Past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566160" cy="16916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371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locked in BI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Analysts wait days for dashboards. Questions can't be answered without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566160" cy="16916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44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371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SQL gatekeeping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Business users can't query data directly — every insight needs an engineer.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3566160" cy="16916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44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371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semantic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The same metric calculated 5 different ways. No single source of truth.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3566160" cy="16916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264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291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 hallucinations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03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Generic AI tools generate wrong SQL against unknown schemas.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154680"/>
            <a:ext cx="3566160" cy="16916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264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291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Time to insight is too slow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Reports take hours. Decisions are made on stale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DataPrismAI?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An enterprise-grade conversational analytics platform that turns natural language into governed SQL — with semantic context, persona-aware insights, and multi-mode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560320" cy="411480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256032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Natural Language
to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Ask in plain English.
Get accurate, governed SQL instantly.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65960"/>
            <a:ext cx="2560320" cy="411480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965960"/>
            <a:ext cx="25603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Semantic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337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Metrics, dimensions, and joins
defined once — reused everywhere.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65960"/>
            <a:ext cx="2560320" cy="411480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96596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Persona-Aware
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37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CFO, Analyst, Fraud Analyst
each get tailored responses.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965960"/>
            <a:ext cx="2560320" cy="411480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965960"/>
            <a:ext cx="25603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3-Mode AI
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33756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Pattern · Hybrid · LLM
— pick speed or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5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Banking Data Platform — 3 Countries, 64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74552" cy="10058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Semantic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</a:rPr>
              <a:t>semantic_*  |  12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490472"/>
            <a:ext cx="7772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Customer 360 · Portfolio KPIs · Spend Metrics · Risk Metrics · Payment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443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dp_*  |  8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24912"/>
            <a:ext cx="7223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Aggregated analytical outputs ready for charting and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703320"/>
            <a:ext cx="10177272" cy="10058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703320"/>
            <a:ext cx="731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764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788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ddm_*  |  14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59352"/>
            <a:ext cx="6675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Conformed &amp; enriched — standardised business entities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4937760"/>
            <a:ext cx="9628632" cy="1005840"/>
          </a:xfrm>
          <a:prstGeom prst="rect">
            <a:avLst/>
          </a:prstGeom>
          <a:solidFill>
            <a:srgbClr val="10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" y="4937760"/>
            <a:ext cx="73152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50109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Raw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41324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59B6"/>
                </a:solidFill>
              </a:rPr>
              <a:t>raw_*  |  18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193792"/>
            <a:ext cx="6126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Deposit txns · Deposit accounts · Loans · Repayments ·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SG · MY ·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Countries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217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600K+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Deposit 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217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4,112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Loans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217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136K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37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Loan Repayments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6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AI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 Chat Modes — Speed or Intelligence, You Choose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611880" cy="5120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61188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9B1"/>
                </a:solidFill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Deterministic SQL only
— no LLM involved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807208"/>
            <a:ext cx="109728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Instant response (&lt;50ms)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29000"/>
            <a:ext cx="109728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192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100% predictable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50792"/>
            <a:ext cx="109728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410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Pre-built analytical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72584"/>
            <a:ext cx="109728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628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Direct table lookups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294376"/>
            <a:ext cx="109728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84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for: operational dashboards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234440"/>
            <a:ext cx="3611880" cy="5120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234440"/>
            <a:ext cx="3611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463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Hybrid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965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Pattern first → LLM fallback
— Recommended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807208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2697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Pattern matched 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429000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3192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Falls back to Qwen 2.5 32B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4050792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39410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semantic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672584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5628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dictionary enrichment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294376"/>
            <a:ext cx="109728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5184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for: most business queries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1371600"/>
            <a:ext cx="123444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13898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RECOMMENDED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1234440"/>
            <a:ext cx="3611880" cy="5120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80" y="1234440"/>
            <a:ext cx="361188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14630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71"/>
                </a:solidFill>
              </a:rPr>
              <a:t>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965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Pure LLM with full
data dictionary context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2807208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2697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Skips pattern matching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3429000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33192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DDL + dict injected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4050792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394106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flexible reasoning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4672584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0" y="456285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Handles complex joins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5294376"/>
            <a:ext cx="109728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5184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Best for: exploratory / ad-hoc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7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SEMANTIC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Governed Semantic Layer — One Source of Truth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435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semantic_customer_360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2435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600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435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Full customer snapshot: balance, utilisation, overdue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01952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568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semantic_deposit_portfolio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56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600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568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Savings · Current · FD balances per customer per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70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semantic_loan_portfolio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70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511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0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Personal · Home · Auto loan positions + NPL flags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28416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semantic_spend_metrics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3832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9,125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Monthly spend by category per customer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41648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96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semantic_portfolio_kpis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096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Monthly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965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Country-level KPIs: delinquency, utilisation, fraud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097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semantic_payment_status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809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Per acct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097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Payment status, overdue days, amount still owed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68112"/>
            <a:ext cx="685800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229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</a:rPr>
              <a:t>semantic_risk_metrics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522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Monthly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52297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Fraud rate, decline rate, avg fraud score by segment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1143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Data Dictionary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1600200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165506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dic_tables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190195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Table definitions + layer + domain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2313432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23682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dic_columns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61518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Column descriptions + business rules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3026664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08152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dic_relationships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32841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Join paths between tables (FK model)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3739896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379476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semantic_metrics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04164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Metric definitions (calculated KPIs)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4453128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45079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semantic_dimensions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75488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Dimension catalogue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5166360"/>
            <a:ext cx="4297680" cy="585216"/>
          </a:xfrm>
          <a:prstGeom prst="rect">
            <a:avLst/>
          </a:prstGeom>
          <a:solidFill>
            <a:srgbClr val="06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5240" y="522122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semantic_glossary_metrics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54681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Business glossary terms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Demo Query Playbook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566160" cy="3840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9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⚡ Pattern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"How many customers?"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payment status breakdown"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46704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portfolio KPIs"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51376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4281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"Top spending customers"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4748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"Spend by category"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60720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monthly transaction trend"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234440"/>
            <a:ext cx="35661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289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★ Hybrid Mode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737360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"How many customers by country?"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542032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6334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deposit portfolio summary"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346704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"NPL rate by country"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151376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24281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overdue customers"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956048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04748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loan portfolio overview"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760720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852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"Delinquency rate breakdown"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234440"/>
            <a:ext cx="356616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2893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🤖 LLM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737360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"Which customers have the highest
utilization and are overdue?"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2542032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263347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"Compare loan NPL rates across
countries for HNW segment"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346704"/>
            <a:ext cx="3566160" cy="71323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43814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"Show FD maturity risk next 30 days
by country"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Persona-Aware AI — Different Lenses, Same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204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Detailed breakdowns,
SQL shown,
next-step suggestions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35204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CFO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P&amp;L framing, risk exposure,
regulatory implications,
high-level KPIs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204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Fraud 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Suspicious patterns, fraud scores,
decline reasons,
high-risk 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35204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22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Team performance, targets,
operational summary,
no technical jargon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65760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657600"/>
            <a:ext cx="352044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3822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9B6"/>
                </a:solidFill>
              </a:rPr>
              <a:t>Regional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891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Country-level risk,
NPL by region,
delinquency buckets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657600"/>
            <a:ext cx="352044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657600"/>
            <a:ext cx="352044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8221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Retail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3891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Account balance, spend summary,
payment due dates,
simple 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a Query Flows Through DataPrismAI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" y="1463040"/>
            <a:ext cx="16916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" y="1600200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Natural language question
entered in chat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111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971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99716" y="1463040"/>
            <a:ext cx="1691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91156" y="1600200"/>
            <a:ext cx="34747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115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115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Planner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115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Intent classification:
metric_query · preview_data · schema_query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707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567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5676" y="1463040"/>
            <a:ext cx="16916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7116" y="1600200"/>
            <a:ext cx="34747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711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711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Resolver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711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Matches metric + dimensions
from Semantic 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303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163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1636" y="1463040"/>
            <a:ext cx="16916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3076" y="1600200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307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 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Pattern → Analytical → Canonical
→ LLM fallback → Vanna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899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759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97596" y="1463040"/>
            <a:ext cx="1691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9036" y="1600200"/>
            <a:ext cx="34747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903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903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StarRocks Execution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903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Runs SQL against cc_analytics
with timeout + row cap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95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9B1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3556" y="1463040"/>
            <a:ext cx="1691640" cy="32918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63556" y="1463040"/>
            <a:ext cx="16916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54996" y="1600200"/>
            <a:ext cx="34747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4996" y="1600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4996" y="2057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Response Node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4996" y="2606040"/>
            <a:ext cx="1508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Persona-aware narrative + KPIs
+ chart type + follow-ups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— End-to-End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Next.js +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325880"/>
            <a:ext cx="9235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Chat · Explorer · Reports · Audit · Settings
3 chat modes UI · Persona selector · Thread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1247120" cy="11887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7315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API &amp;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FastAPI + 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51760"/>
            <a:ext cx="9235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Graph-based query pipeline: Planner → Semantic Resolver → SQL Node → Execution → Response
Ollama · Qwen2.5:32b · Vanna · SchemaRegistry (live DESCRIBE)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1247120" cy="11887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73152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Semantic &amp;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StarRocks 4.0 + SchemaRegistry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977640"/>
            <a:ext cx="9235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64-table cc_analytics DB · 4-layer medallion · Live schema discovery · Auto-refresh every 5 min
Pattern engine · Canonical SQL catalog · Dimensional routing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166360"/>
            <a:ext cx="73152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57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Data &amp; 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Docker Compose + Postgres + Ollama + 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303520"/>
            <a:ext cx="9235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StarRocks FE/BE · PostgreSQL (metadata) · Ollama (LLM inference) · MinIO (object store)
Persistent volumes · Health-check polling · Idempotent setup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1463040" cy="2560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Natural language to SQL (Pattern + Hybrid + LLM)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64-table banking data model (3 countries)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072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Semantic catalog with governed metrics &amp;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6 persona types with tailored response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142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SchemaRegistry — live auto-refreshing schema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Data dictionary (dic_tables / dic_columns / dic_relationships)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212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Persistent Docker volumes — data survives restarts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Coming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Chart rendering with auto-recommended chart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03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Trino federation for cross-source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072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Metric Explorer UI with drill-down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10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Skills Marketplace (pluggable AI skills)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142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Inline rich cards (KPI tiles, mini-charts in chat)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17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Audit trail &amp; query lineage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212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🔜  Multi-thread conversation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188720"/>
            <a:ext cx="36576" cy="50292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DataPrism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8288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C9B1"/>
                </a:solidFill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D6E0"/>
                </a:solidFill>
              </a:rPr>
              <a:t>Ask your data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</a:rPr>
              <a:t>⚡ Pattern  ·  ★ Hybrid  ·  🤖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